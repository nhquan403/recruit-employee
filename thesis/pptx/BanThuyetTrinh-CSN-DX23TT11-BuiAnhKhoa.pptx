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thầy cô trong hội đồng. Em xin trình bày đồ án thực tập cơ sở ngành với đề tài xây dựng website kết nối người tìm việc làm thêm với nhà tuyển dụng, dưới sự hướng dẫn của thầy Trầm Hoàng Nam. Em là Bùi Anh Khoa, mã số sinh viên 170123594, lớp DX23TT11.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Nhu cầu tìm việc làm thêm của sinh viên và lao động thời vụ luôn ở mức cao, nhưng cách kết nối hiện nay có hai nhóm hạn chế. Các kênh phi chính thức như nhóm Facebook hay Zalo thì tin đăng rải rác, dễ trôi mất, không có bộ lọc theo khu vực hay khung giờ, và không xác thực người đăng nên dễ xuất hiện tin giả. Trong khi đó các nền tảng tuyển dụng lớn như TopCV, VietnamWorks lại tập trung vào việc làm toàn thời gian với quy trình khá nặng, không phù hợp với một tin tuyển dụng làm thêm cần đăng nhanh và tuyển gấp. Đó chính là khoảng trống mà đồ án hướng tới lấp đầy.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chung của đồ án là xây dựng một website kết nối người tìm việc làm thêm với nhà tuyển dụng, cho phép đăng tin, tìm kiếm, lọc và ứng tuyển nhanh chóng, có quản lý tài khoản theo vai trò và một trang quản trị kiểm duyệt tin đăng. Từ đó đồ án đặt ra sáu mục tiêu cụ thể: khảo sát yêu cầu hai nhóm người dùng, thiết kế cơ sở dữ liệu quan hệ, xây dựng API RESTful, xây dựng giao diện cho ba vai trò, cài đặt tìm kiếm lọc và thông báo, và cuối cùng là kiểm thử cùng triển khai một bản demo chạy được để trình diễn.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Đối tượng nghiên cứu gồm hai nhóm: người tìm việc làm thêm — chủ yếu là sinh viên và lao động phổ thông — và nhà tuyển dụng nhỏ như cửa hàng, quán ăn, kho hàng. Đồ án giới hạn phạm vi ở mức phù hợp với một đồ án cơ sở ngành: một website đáp ứng dùng được trên máy tính lẫn điện thoại, ba vai trò người dùng, quản trị viên duyệt tin trước khi hiển thị công khai, và thông báo cập nhật qua cơ chế truy vấn định kỳ thay vì kênh email hay SMS bên thứ ba. Đồ án không làm ứng dụng di động riêng, không xử lý thanh toán lương hay hợp đồng điện tử, không dùng trí tuệ nhân tạo để gợi ý việc làm, và không xác minh danh tính bằng giấy tờ tùy thân.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theo kiến trúc client-server, gồm ba thành phần triển khai độc lập đóng gói bằng Docker Compose: dịch vụ cơ sở dữ liệu PostgreSQL, dịch vụ backend bằng NestJS, và dịch vụ frontend bằng Next.js. Trình duyệt chỉ giao tiếp trực tiếp với frontend; mọi thao tác cần dữ liệu được frontend gọi tiếp sang backend qua REST API có đính kèm JWT. Backend là thành phần duy nhất truy cập cơ sở dữ liệu, thông qua Prisma Client.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công nghệ, front-end dùng Next.js phiên bản 16 với App Router, kết hợp TypeScript và TailwindCSS. Back-end dùng NestJS phiên bản 11 trên nền Node.js, tổ chức mã nguồn theo module. Cơ sở dữ liệu là PostgreSQL, thao tác qua Prisma ORM phiên bản 6. Xác thực dùng JSON Web Token kết hợp băm mật khẩu bằng bcrypt và kiểm soát truy cập theo vai trò. Kiểm thử dùng Jest cho back-end và Testing Library cho front-end, còn triển khai bản demo dùng Docker Compose.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Cơ sở dữ liệu gồm năm bảng: User, Job, Application, Profile và Notification. Bảng Application chỉ lưu hai khóa ngoại tới Job và User cùng trạng thái riêng của nó, tránh lặp lại dữ liệu; và có ràng buộc duy nhất trên cặp jobId-candidateId để đảm bảo ở cấp cơ sở dữ liệu rằng một ứng viên không thể ứng tuyển hai lần vào cùng một tin. Bảng Profile được tách riêng khỏi User theo đúng nguyên tắc chuẩn hóa dữ liệu quan hệ, vì đây là thông tin phụ thuộc vào người dùng nhưng không phải thuộc tính định danh tài khoản.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có hai mươi tư endpoint REST, chia theo sáu module nghiệp vụ: xác thực, tin tuyển dụng, hồ sơ ứng tuyển, thông báo, hồ sơ cá nhân và quản trị. Mỗi endpoint được bảo vệ bằng RolesGuard kiểm tra đúng vai trò, và với các thao tác sửa hoặc xoá tin còn có thêm JobOwnerGuard đảm bảo một nhà tuyển dụng chỉ thao tác được trên tin do chính mình đăng. Mọi dữ liệu đầu vào đều được kiểm tra hợp lệ bằng lớp DTO cùng thư viện class-validator và một ValidationPipe toàn cục, từ chối dữ liệu sai định dạng trước khi chạm tới logic nghiệp vụ.</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luồng ứng tuyển đầu-cuối thật của hệ thống. Ứng viên bấm ứng tuyển, backend tạo một bản ghi Application ở trạng thái PENDING và đồng thời tạo thông báo gửi cho nhà tuyển dụng sở hữu tin đó. Khi nhà tuyển dụng mở trang quản lý ứng viên, lần xem đầu tiên tự động chuyển trạng thái sang VIEWED. Khi nhà tuyển dụng chọn mời phỏng vấn hoặc từ chối, hệ thống cập nhật trạng thái tương ứng và tạo thông báo gửi ngược lại cho ứng viên, ứng viên thấy cập nhật này qua vòng truy vấn định kỳ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có ba vai trò người dùng: ứng viên, nhà tuyển dụng và quản trị viên, phục vụ đủ bảy use case đã đặc tả — từ đăng ký đăng nhập, đăng tin tuyển dụng, tìm kiếm và lọc tin, ứng tuyển, quản lý danh sách ứng viên, duyệt hoặc từ chối tin, cho tới nhận thông báo cập nhật hồ sơ. Toàn bộ bảy use case này đều đã được cài đặt và kiểm thử đầy đủ, phần demo tiếp theo sẽ đi qua từng vai trò.</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trang chủ dành cho ứng viên, hiển thị danh sách tin tuyển dụng phù hợp. Giao diện được thiết kế đáp ứng, dùng tốt trên cả máy tính và điện thoại — phù hợp với đối tượng người dùng chính là sinh viên thường tra cứu trên di động.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[BẤM QUA khi bảo vệ — chỉ nói nhanh 1 câu, không đọc hết đoạn dưới. Đọc đầy đủ khi quay video nộp bài.]</a:t>
            </a:r>
          </a:p>
          <a:p/>
          <a:p>
            <a:r>
              <a:t>Màn hình tìm kiếm với bộ lọc đầy đủ theo khu vực, khung giờ làm việc và mức lương — đúng những tiêu chí mà khảo sát hiện trạng ở phần đầu cho thấy các kênh phi chính thức đang thiếu.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[BẤM QUA khi bảo vệ — chỉ nói nhanh 1 câu, không đọc hết đoạn dưới. Đọc đầy đủ khi quay video nộp bài.]</a:t>
            </a:r>
          </a:p>
          <a:p/>
          <a:p>
            <a:r>
              <a:t>Trang chi tiết một tin tuyển dụng, nơi ứng viên bấm ứng tuyển. Yêu cầu ứng tuyển đi qua DTO kiểm tra jobId đúng định dạng UUID trước khi tạo hồ sơ ứng tuyển thật.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[BẤM QUA khi bảo vệ — chỉ nói nhanh 1 câu, không đọc hết đoạn dưới. Đọc đầy đủ khi quay video nộp bài.]</a:t>
            </a:r>
          </a:p>
          <a:p/>
          <a:p>
            <a:r>
              <a:t>Phía nhà tuyển dụng, đây là form đăng tin tuyển dụng mới. Mọi tin mới đăng đều ở trạng thái chờ duyệt, chỉ hiển thị công khai sau khi quản trị viên phê duyệt — đúng biện pháp hạn chế tin giả đã trình bày ở phần kiến trúc.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quản lý ứng viên của một tin tuyển dụng, hiển thị hai hồ sơ ở hai trạng thái khác nhau. Nhà tuyển dụng có thể mời phỏng vấn hoặc từ chối trực tiếp từ đây, hệ thống tự gửi thông báo cho ứng viên ngay sau đó.</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quản trị cho quản trị viên, gồm tổng quan hệ thống, danh sách tin đang chờ duyệt và danh sách người dùng — đây là nơi thực hiện bước kiểm duyệt trước khi một tin tuyển dụng được hiển thị công khai.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[BẤM QUA khi bảo vệ — chỉ nói nhanh 1 câu, không đọc hết đoạn dưới. Đọc đầy đủ khi quay video nộp bài.]</a:t>
            </a:r>
          </a:p>
          <a:p/>
          <a:p>
            <a:r>
              <a:t>Chuông thông báo đang mở, hiển thị một thông báo chưa đọc — cập nhật bằng cơ chế truy vấn định kỳ mỗi hai mươi giây như đã trình bày ở phần kiến trúc.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[BẤM QUA khi bảo vệ — chỉ nói nhanh 1 câu, không đọc hết đoạn dưới. Đọc đầy đủ khi quay video nộp bài.]</a:t>
            </a:r>
          </a:p>
          <a:p/>
          <a:p>
            <a:r>
              <a:t>Trang hồ sơ cá nhân của ứng viên, nơi xem lại thông tin tài khoản của chính mình.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bảo mật, hệ thống đã đối chiếu với các nhóm rủi ro liên quan trong OWASP Top Mười. Đã có biện pháp cho kiểm soát truy cập, mật khẩu, chống chèn mã độc nhờ Prisma dùng câu lệnh tham số hóa, và kiểm tra dữ liệu đầu vào toàn cục. Có hai điểm được ghi nhận là hạn chế biết trước, không che giấu: cấu hình CORS hiện chưa giới hạn đúng origin, và hệ thống chưa có giới hạn số lần thử đăng nhập sai — cả hai đã được đưa vào hướng phát triển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Toàn bộ một trăm lẻ sáu trên một trăm lẻ sáu kịch bản kiểm thử tự động đều đạt, tỷ lệ một trăm phần trăm — gồm hai mươi mốt kiểm thử đơn vị và bảy mươi bảy kiểm thử tích hợp ở backend, cùng tám kiểm thử đơn vị ở frontend. Trong đó có một bộ kiểm thử RBAC riêng biệt, xác nhận một tài khoản không thể gọi được API dành cho vai trò khác.</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Đối chiếu với các chỉ tiêu định lượng đã đề ra trước khi xây dựng: bảy trên bảy use case hoàn thành, vượt chỉ tiêu tối thiểu sáu trên bảy; một trăm lẻ sáu trên một trăm lẻ sáu kịch bản kiểm thử đạt, vượt chỉ tiêu tối thiểu chín mươi phần trăm; và giao diện không bị tràn ngang ở cả ba độ rộng màn hình đã kiểm tra bằng Chromium thật.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Đồ án còn một số hạn chế được ghi nhận rõ ràng: độ trễ thông báo tối đa khoảng hai mươi giây do dùng polling, bộ dữ liệu demo còn ở quy mô nhỏ, và cấu hình CORS cùng giới hạn thử đăng nhập sai chưa được siết chặt. Hướng phát triển tiếp theo gồm xây dựng ứng dụng di động tận dụng lại API hiện có, bổ sung gợi ý việc làm theo lịch sử tìm kiếm, cơ chế đánh giá hai chiều giữa ứng viên và nhà tuyển dụng, và thay polling bằng WebSocket nếu quy mô người dùng tăng đủ lớn.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thuyết trình đầy đủ và toàn bộ mã nguồn, tài liệu của đồ án được đính kèm theo hai liên kết trên slide này.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xin chân thành cảm ơn thầy Trầm Hoàng Nam đã tận tình hướng dẫn trong suốt quá trình thực hiện đồ án, và cảm ơn quý thầy cô trong hội đồng đã lắng nghe. Em xin được lắng nghe góp ý và nhận xét ạ.</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45775" cy="2011680"/>
          </a:xfrm>
          <a:prstGeom prst="rect">
            <a:avLst/>
          </a:prstGeom>
          <a:noFill/>
        </p:spPr>
        <p:txBody>
          <a:bodyPr wrap="square" anchor="ctr">
            <a:spAutoFit/>
          </a:bodyPr>
          <a:lstStyle/>
          <a:p>
            <a:pPr algn="ctr"/>
            <a:r>
              <a:rPr sz="3200" b="1">
                <a:solidFill>
                  <a:srgbClr val="0369A1"/>
                </a:solidFill>
              </a:rPr>
              <a:t>XÂY DỰNG WEBSITE KẾT NỐI NGƯỜI TÌM VIỆC LÀM THÊM VỚI NHÀ TUYỂN DỤNG</a:t>
            </a:r>
          </a:p>
        </p:txBody>
      </p:sp>
      <p:sp>
        <p:nvSpPr>
          <p:cNvPr id="4" name="TextBox 3"/>
          <p:cNvSpPr txBox="1"/>
          <p:nvPr/>
        </p:nvSpPr>
        <p:spPr>
          <a:xfrm>
            <a:off x="822960" y="4114800"/>
            <a:ext cx="10545775" cy="2103120"/>
          </a:xfrm>
          <a:prstGeom prst="rect">
            <a:avLst/>
          </a:prstGeom>
          <a:noFill/>
        </p:spPr>
        <p:txBody>
          <a:bodyPr wrap="square">
            <a:spAutoFit/>
          </a:bodyPr>
          <a:lstStyle/>
          <a:p>
            <a:pPr algn="ctr">
              <a:spcAft>
                <a:spcPts val="600"/>
              </a:spcAft>
            </a:pPr>
            <a:r>
              <a:rPr sz="1600">
                <a:solidFill>
                  <a:srgbClr val="64748B"/>
                </a:solidFill>
              </a:rPr>
              <a:t>Đồ án Thực tập Cơ sở ngành — Ngành Công nghệ Thông tin</a:t>
            </a:r>
          </a:p>
          <a:p>
            <a:pPr algn="ctr">
              <a:spcAft>
                <a:spcPts val="600"/>
              </a:spcAft>
            </a:pPr>
            <a:r>
              <a:rPr sz="1600">
                <a:solidFill>
                  <a:srgbClr val="64748B"/>
                </a:solidFill>
              </a:rPr>
              <a:t>GVHD: ThS. Trầm Hoàng Nam</a:t>
            </a:r>
          </a:p>
          <a:p>
            <a:pPr algn="ctr">
              <a:spcAft>
                <a:spcPts val="600"/>
              </a:spcAft>
            </a:pPr>
            <a:r>
              <a:rPr sz="1600">
                <a:solidFill>
                  <a:srgbClr val="64748B"/>
                </a:solidFill>
              </a:rPr>
              <a:t>SVTH: Bùi Anh Khoa — MSSV 170123594 — Lớp DX23TT11 — Khoá 2023–2027</a:t>
            </a:r>
          </a:p>
          <a:p>
            <a:pPr algn="ctr">
              <a:spcAft>
                <a:spcPts val="600"/>
              </a:spcAft>
            </a:pPr>
            <a:r>
              <a:rPr sz="1600">
                <a:solidFill>
                  <a:srgbClr val="64748B"/>
                </a:solidFill>
              </a:rPr>
              <a:t>Trường Đại học Trà Vinh — Khoa Kỹ thuật và Công nghệ</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r>
              <a:rPr sz="2600" b="1">
                <a:solidFill>
                  <a:srgbClr val="FFFFFF"/>
                </a:solidFill>
              </a:rPr>
              <a:t>Lý do chọn đề tài</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400"/>
              </a:spcAft>
            </a:pPr>
            <a:r>
              <a:rPr sz="1800">
                <a:solidFill>
                  <a:srgbClr val="1E293B"/>
                </a:solidFill>
              </a:rPr>
              <a:t>•  Nhu cầu làm thêm của sinh viên và lao động thời vụ luôn ở mức cao</a:t>
            </a:r>
          </a:p>
          <a:p>
            <a:pPr>
              <a:spcAft>
                <a:spcPts val="1400"/>
              </a:spcAft>
            </a:pPr>
            <a:r>
              <a:rPr sz="1800">
                <a:solidFill>
                  <a:srgbClr val="1E293B"/>
                </a:solidFill>
              </a:rPr>
              <a:t>•  Kênh phi chính thức (Facebook, Zalo): tin rải rác, không có bộ lọc, không xác thực người đăng</a:t>
            </a:r>
          </a:p>
          <a:p>
            <a:pPr>
              <a:spcAft>
                <a:spcPts val="1400"/>
              </a:spcAft>
            </a:pPr>
            <a:r>
              <a:rPr sz="1800">
                <a:solidFill>
                  <a:srgbClr val="1E293B"/>
                </a:solidFill>
              </a:rPr>
              <a:t>•  Nền tảng lớn (TopCV, VietnamWorks): quy trình nặng, không hợp với việc làm thêm ngắn hạn</a:t>
            </a:r>
          </a:p>
          <a:p>
            <a:pPr>
              <a:spcAft>
                <a:spcPts val="1400"/>
              </a:spcAft>
            </a:pPr>
            <a:r>
              <a:rPr sz="1800">
                <a:solidFill>
                  <a:srgbClr val="1E293B"/>
                </a:solidFill>
              </a:rPr>
              <a:t>•  → Khoảng trống thị trường giữa hai nhóm kênh trên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r>
              <a:rPr sz="2600" b="1">
                <a:solidFill>
                  <a:srgbClr val="FFFFFF"/>
                </a:solidFill>
              </a:rPr>
              <a:t>Mục tiêu đồ án</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400"/>
              </a:spcAft>
            </a:pPr>
            <a:r>
              <a:rPr sz="1800">
                <a:solidFill>
                  <a:srgbClr val="1E293B"/>
                </a:solidFill>
              </a:rPr>
              <a:t>•  Mục tiêu chung: website kết nối, đăng tin — tìm kiếm — lọc — ứng tuyển nhanh, 3 vai trò</a:t>
            </a:r>
          </a:p>
          <a:p>
            <a:pPr>
              <a:spcAft>
                <a:spcPts val="1400"/>
              </a:spcAft>
            </a:pPr>
            <a:r>
              <a:rPr sz="1800">
                <a:solidFill>
                  <a:srgbClr val="1E293B"/>
                </a:solidFill>
              </a:rPr>
              <a:t>•  Thiết kế CSDL quan hệ cho người dùng, tin tuyển dụng, hồ sơ ứng tuyển, thông báo</a:t>
            </a:r>
          </a:p>
          <a:p>
            <a:pPr>
              <a:spcAft>
                <a:spcPts val="1400"/>
              </a:spcAft>
            </a:pPr>
            <a:r>
              <a:rPr sz="1800">
                <a:solidFill>
                  <a:srgbClr val="1E293B"/>
                </a:solidFill>
              </a:rPr>
              <a:t>•  Xây dựng API RESTful và giao diện cho 3 vai trò</a:t>
            </a:r>
          </a:p>
          <a:p>
            <a:pPr>
              <a:spcAft>
                <a:spcPts val="1400"/>
              </a:spcAft>
            </a:pPr>
            <a:r>
              <a:rPr sz="1800">
                <a:solidFill>
                  <a:srgbClr val="1E293B"/>
                </a:solidFill>
              </a:rPr>
              <a:t>•  Tìm kiếm/lọc theo khu vực, khung giờ, mức lương + thông báo cập nhật</a:t>
            </a:r>
          </a:p>
          <a:p>
            <a:pPr>
              <a:spcAft>
                <a:spcPts val="1400"/>
              </a:spcAft>
            </a:pPr>
            <a:r>
              <a:rPr sz="1800">
                <a:solidFill>
                  <a:srgbClr val="1E293B"/>
                </a:solidFill>
              </a:rPr>
              <a:t>•  Kiểm thử theo kịch bản nghiệp vụ, triển khai bản demo chạy được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r>
              <a:rPr sz="2600" b="1">
                <a:solidFill>
                  <a:srgbClr val="FFFFFF"/>
                </a:solidFill>
              </a:rPr>
              <a:t>Đối tượng và phạm vi</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400"/>
              </a:spcAft>
            </a:pPr>
            <a:r>
              <a:rPr sz="1800">
                <a:solidFill>
                  <a:srgbClr val="1E293B"/>
                </a:solidFill>
              </a:rPr>
              <a:t>•  Đối tượng: người tìm việc làm thêm (sinh viên, lao động phổ thông) và nhà tuyển dụng nhỏ</a:t>
            </a:r>
          </a:p>
          <a:p>
            <a:pPr>
              <a:spcAft>
                <a:spcPts val="1400"/>
              </a:spcAft>
            </a:pPr>
            <a:r>
              <a:rPr sz="1800">
                <a:solidFill>
                  <a:srgbClr val="1E293B"/>
                </a:solidFill>
              </a:rPr>
              <a:t>•  Phạm vi: website đáp ứng, 3 vai trò, kiểm duyệt tin, thông báo bằng polling</a:t>
            </a:r>
          </a:p>
          <a:p>
            <a:pPr>
              <a:spcAft>
                <a:spcPts val="1400"/>
              </a:spcAft>
            </a:pPr>
            <a:r>
              <a:rPr sz="1800">
                <a:solidFill>
                  <a:srgbClr val="1E293B"/>
                </a:solidFill>
              </a:rPr>
              <a:t>•  Không làm: app di động riêng, thanh toán lương, AI gợi ý việc, xác minh giấy tờ tuỳ thân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r>
              <a:rPr sz="2600" b="1">
                <a:solidFill>
                  <a:srgbClr val="FFFFFF"/>
                </a:solidFill>
              </a:rPr>
              <a:t>Kiến trúc tổng quan hệ thống</a:t>
            </a:r>
          </a:p>
        </p:txBody>
      </p:sp>
      <p:sp>
        <p:nvSpPr>
          <p:cNvPr id="3" name="TextBox 2"/>
          <p:cNvSpPr txBox="1"/>
          <p:nvPr/>
        </p:nvSpPr>
        <p:spPr>
          <a:xfrm>
            <a:off x="457200" y="1371600"/>
            <a:ext cx="5486400" cy="5029200"/>
          </a:xfrm>
          <a:prstGeom prst="rect">
            <a:avLst/>
          </a:prstGeom>
          <a:noFill/>
        </p:spPr>
        <p:txBody>
          <a:bodyPr wrap="square">
            <a:spAutoFit/>
          </a:bodyPr>
          <a:lstStyle/>
          <a:p>
            <a:pPr>
              <a:spcAft>
                <a:spcPts val="1400"/>
              </a:spcAft>
            </a:pPr>
            <a:r>
              <a:rPr sz="1800">
                <a:solidFill>
                  <a:srgbClr val="1E293B"/>
                </a:solidFill>
              </a:rPr>
              <a:t>•  Kiến trúc client-server, giao tiếp qua REST API có JWT</a:t>
            </a:r>
          </a:p>
          <a:p>
            <a:pPr>
              <a:spcAft>
                <a:spcPts val="1400"/>
              </a:spcAft>
            </a:pPr>
            <a:r>
              <a:rPr sz="1800">
                <a:solidFill>
                  <a:srgbClr val="1E293B"/>
                </a:solidFill>
              </a:rPr>
              <a:t>•  3 dịch vụ đóng gói bằng Docker Compose: db (PostgreSQL), backend (NestJS), frontend (Next.js)</a:t>
            </a:r>
          </a:p>
          <a:p>
            <a:pPr>
              <a:spcAft>
                <a:spcPts val="1400"/>
              </a:spcAft>
            </a:pPr>
            <a:r>
              <a:rPr sz="1800">
                <a:solidFill>
                  <a:srgbClr val="1E293B"/>
                </a:solidFill>
              </a:rPr>
              <a:t>•  backend là thành phần duy nhất truy cập cơ sở dữ liệu</a:t>
            </a:r>
          </a:p>
        </p:txBody>
      </p:sp>
      <p:pic>
        <p:nvPicPr>
          <p:cNvPr id="4" name="Picture 3" descr="hinh-2-1-kien-truc-tong-quan.png"/>
          <p:cNvPicPr>
            <a:picLocks noChangeAspect="1"/>
          </p:cNvPicPr>
          <p:nvPr/>
        </p:nvPicPr>
        <p:blipFill>
          <a:blip r:embed="rId2"/>
          <a:stretch>
            <a:fillRect/>
          </a:stretch>
        </p:blipFill>
        <p:spPr>
          <a:xfrm>
            <a:off x="6217920" y="1463040"/>
            <a:ext cx="5608015" cy="4846320"/>
          </a:xfrm>
          <a:prstGeom prst="rect">
            <a:avLst/>
          </a:prstGeom>
        </p:spPr>
      </p:pic>
      <p:sp>
        <p:nvSpPr>
          <p:cNvPr id="5" name="Rectangle 4"/>
          <p:cNvSpPr/>
          <p:nvPr/>
        </p:nvSpPr>
        <p:spPr>
          <a:xfrm>
            <a:off x="6217919" y="1463039"/>
            <a:ext cx="5608017" cy="4846322"/>
          </a:xfrm>
          <a:prstGeom prst="rect">
            <a:avLst/>
          </a:prstGeom>
          <a:no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r>
              <a:rPr sz="2600" b="1">
                <a:solidFill>
                  <a:srgbClr val="FFFFFF"/>
                </a:solidFill>
              </a:rPr>
              <a:t>Công nghệ sử dụng</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400"/>
              </a:spcAft>
            </a:pPr>
            <a:r>
              <a:rPr sz="1800">
                <a:solidFill>
                  <a:srgbClr val="1E293B"/>
                </a:solidFill>
              </a:rPr>
              <a:t>•  Front-end: Next.js 16, React 19, TypeScript, TailwindCSS 3</a:t>
            </a:r>
          </a:p>
          <a:p>
            <a:pPr>
              <a:spcAft>
                <a:spcPts val="1400"/>
              </a:spcAft>
            </a:pPr>
            <a:r>
              <a:rPr sz="1800">
                <a:solidFill>
                  <a:srgbClr val="1E293B"/>
                </a:solidFill>
              </a:rPr>
              <a:t>•  Back-end: NestJS 11 (Node.js), tổ chức theo module</a:t>
            </a:r>
          </a:p>
          <a:p>
            <a:pPr>
              <a:spcAft>
                <a:spcPts val="1400"/>
              </a:spcAft>
            </a:pPr>
            <a:r>
              <a:rPr sz="1800">
                <a:solidFill>
                  <a:srgbClr val="1E293B"/>
                </a:solidFill>
              </a:rPr>
              <a:t>•  Cơ sở dữ liệu: PostgreSQL 16, thao tác qua Prisma ORM 6</a:t>
            </a:r>
          </a:p>
          <a:p>
            <a:pPr>
              <a:spcAft>
                <a:spcPts val="1400"/>
              </a:spcAft>
            </a:pPr>
            <a:r>
              <a:rPr sz="1800">
                <a:solidFill>
                  <a:srgbClr val="1E293B"/>
                </a:solidFill>
              </a:rPr>
              <a:t>•  Xác thực: JWT + bcrypt + kiểm soát truy cập theo vai trò (RBAC)</a:t>
            </a:r>
          </a:p>
          <a:p>
            <a:pPr>
              <a:spcAft>
                <a:spcPts val="1400"/>
              </a:spcAft>
            </a:pPr>
            <a:r>
              <a:rPr sz="1800">
                <a:solidFill>
                  <a:srgbClr val="1E293B"/>
                </a:solidFill>
              </a:rPr>
              <a:t>•  Kiểm thử: Jest + Testing Library · Triển khai: Docker Compose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r>
              <a:rPr sz="2600" b="1">
                <a:solidFill>
                  <a:srgbClr val="FFFFFF"/>
                </a:solidFill>
              </a:rPr>
              <a:t>Thiết kế cơ sở dữ liệu</a:t>
            </a:r>
          </a:p>
        </p:txBody>
      </p:sp>
      <p:sp>
        <p:nvSpPr>
          <p:cNvPr id="3" name="TextBox 2"/>
          <p:cNvSpPr txBox="1"/>
          <p:nvPr/>
        </p:nvSpPr>
        <p:spPr>
          <a:xfrm>
            <a:off x="457200" y="1371600"/>
            <a:ext cx="5486400" cy="5029200"/>
          </a:xfrm>
          <a:prstGeom prst="rect">
            <a:avLst/>
          </a:prstGeom>
          <a:noFill/>
        </p:spPr>
        <p:txBody>
          <a:bodyPr wrap="square">
            <a:spAutoFit/>
          </a:bodyPr>
          <a:lstStyle/>
          <a:p>
            <a:pPr>
              <a:spcAft>
                <a:spcPts val="1400"/>
              </a:spcAft>
            </a:pPr>
            <a:r>
              <a:rPr sz="1800">
                <a:solidFill>
                  <a:srgbClr val="1E293B"/>
                </a:solidFill>
              </a:rPr>
              <a:t>•  5 bảng: User, Job, Application, Profile, Notification</a:t>
            </a:r>
          </a:p>
          <a:p>
            <a:pPr>
              <a:spcAft>
                <a:spcPts val="1400"/>
              </a:spcAft>
            </a:pPr>
            <a:r>
              <a:rPr sz="1800">
                <a:solidFill>
                  <a:srgbClr val="1E293B"/>
                </a:solidFill>
              </a:rPr>
              <a:t>•  Application ràng buộc duy nhất (jobId, candidateId) — một ứng viên không ứng tuyển 2 lần</a:t>
            </a:r>
          </a:p>
          <a:p>
            <a:pPr>
              <a:spcAft>
                <a:spcPts val="1400"/>
              </a:spcAft>
            </a:pPr>
            <a:r>
              <a:rPr sz="1800">
                <a:solidFill>
                  <a:srgbClr val="1E293B"/>
                </a:solidFill>
              </a:rPr>
              <a:t>•  Profile tách riêng khỏi User theo nguyên tắc chuẩn hóa dữ liệu quan hệ</a:t>
            </a:r>
          </a:p>
        </p:txBody>
      </p:sp>
      <p:pic>
        <p:nvPicPr>
          <p:cNvPr id="4" name="Picture 3" descr="hinh-2-2-erd.png"/>
          <p:cNvPicPr>
            <a:picLocks noChangeAspect="1"/>
          </p:cNvPicPr>
          <p:nvPr/>
        </p:nvPicPr>
        <p:blipFill>
          <a:blip r:embed="rId2"/>
          <a:stretch>
            <a:fillRect/>
          </a:stretch>
        </p:blipFill>
        <p:spPr>
          <a:xfrm>
            <a:off x="6217920" y="1463040"/>
            <a:ext cx="5608015" cy="4846320"/>
          </a:xfrm>
          <a:prstGeom prst="rect">
            <a:avLst/>
          </a:prstGeom>
        </p:spPr>
      </p:pic>
      <p:sp>
        <p:nvSpPr>
          <p:cNvPr id="5" name="Rectangle 4"/>
          <p:cNvSpPr/>
          <p:nvPr/>
        </p:nvSpPr>
        <p:spPr>
          <a:xfrm>
            <a:off x="6217919" y="1463039"/>
            <a:ext cx="5608017" cy="4846322"/>
          </a:xfrm>
          <a:prstGeom prst="rect">
            <a:avLst/>
          </a:prstGeom>
          <a:no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r>
              <a:rPr sz="2600" b="1">
                <a:solidFill>
                  <a:srgbClr val="FFFFFF"/>
                </a:solidFill>
              </a:rPr>
              <a:t>Thiết kế API</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400"/>
              </a:spcAft>
            </a:pPr>
            <a:r>
              <a:rPr sz="1800">
                <a:solidFill>
                  <a:srgbClr val="1E293B"/>
                </a:solidFill>
              </a:rPr>
              <a:t>•  24 endpoint REST, chia theo module: auth, jobs, applications, notifications, profiles, admin</a:t>
            </a:r>
          </a:p>
          <a:p>
            <a:pPr>
              <a:spcAft>
                <a:spcPts val="1400"/>
              </a:spcAft>
            </a:pPr>
            <a:r>
              <a:rPr sz="1800">
                <a:solidFill>
                  <a:srgbClr val="1E293B"/>
                </a:solidFill>
              </a:rPr>
              <a:t>•  Bảo vệ bằng RolesGuard (vai trò) và JobOwnerGuard (đúng chủ tin)</a:t>
            </a:r>
          </a:p>
          <a:p>
            <a:pPr>
              <a:spcAft>
                <a:spcPts val="1400"/>
              </a:spcAft>
            </a:pPr>
            <a:r>
              <a:rPr sz="1800">
                <a:solidFill>
                  <a:srgbClr val="1E293B"/>
                </a:solidFill>
              </a:rPr>
              <a:t>•  Dữ liệu đầu vào kiểm tra bằng DTO + class-validator + ValidationPipe toàn cục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r>
              <a:rPr sz="2600" b="1">
                <a:solidFill>
                  <a:srgbClr val="FFFFFF"/>
                </a:solidFill>
              </a:rPr>
              <a:t>Luồng ứng tuyển đầu-cuối</a:t>
            </a:r>
          </a:p>
        </p:txBody>
      </p:sp>
      <p:sp>
        <p:nvSpPr>
          <p:cNvPr id="3" name="TextBox 2"/>
          <p:cNvSpPr txBox="1"/>
          <p:nvPr/>
        </p:nvSpPr>
        <p:spPr>
          <a:xfrm>
            <a:off x="457200" y="1371600"/>
            <a:ext cx="5486400" cy="5029200"/>
          </a:xfrm>
          <a:prstGeom prst="rect">
            <a:avLst/>
          </a:prstGeom>
          <a:noFill/>
        </p:spPr>
        <p:txBody>
          <a:bodyPr wrap="square">
            <a:spAutoFit/>
          </a:bodyPr>
          <a:lstStyle/>
          <a:p>
            <a:pPr>
              <a:spcAft>
                <a:spcPts val="1400"/>
              </a:spcAft>
            </a:pPr>
            <a:r>
              <a:rPr sz="1800">
                <a:solidFill>
                  <a:srgbClr val="1E293B"/>
                </a:solidFill>
              </a:rPr>
              <a:t>•  Ứng viên ứng tuyển → tạo Application (PENDING) + thông báo cho nhà tuyển dụng</a:t>
            </a:r>
          </a:p>
          <a:p>
            <a:pPr>
              <a:spcAft>
                <a:spcPts val="1400"/>
              </a:spcAft>
            </a:pPr>
            <a:r>
              <a:rPr sz="1800">
                <a:solidFill>
                  <a:srgbClr val="1E293B"/>
                </a:solidFill>
              </a:rPr>
              <a:t>•  Nhà tuyển dụng xem danh sách → tự động chuyển VIEWED</a:t>
            </a:r>
          </a:p>
          <a:p>
            <a:pPr>
              <a:spcAft>
                <a:spcPts val="1400"/>
              </a:spcAft>
            </a:pPr>
            <a:r>
              <a:rPr sz="1800">
                <a:solidFill>
                  <a:srgbClr val="1E293B"/>
                </a:solidFill>
              </a:rPr>
              <a:t>•  Nhà tuyển dụng mời phỏng vấn/từ chối → thông báo cho ứng viên</a:t>
            </a:r>
          </a:p>
        </p:txBody>
      </p:sp>
      <p:pic>
        <p:nvPicPr>
          <p:cNvPr id="4" name="Picture 3" descr="hinh-2-3-luong-ung-tuyen.png"/>
          <p:cNvPicPr>
            <a:picLocks noChangeAspect="1"/>
          </p:cNvPicPr>
          <p:nvPr/>
        </p:nvPicPr>
        <p:blipFill>
          <a:blip r:embed="rId2"/>
          <a:stretch>
            <a:fillRect/>
          </a:stretch>
        </p:blipFill>
        <p:spPr>
          <a:xfrm>
            <a:off x="6217920" y="1463040"/>
            <a:ext cx="5608015" cy="4846320"/>
          </a:xfrm>
          <a:prstGeom prst="rect">
            <a:avLst/>
          </a:prstGeom>
        </p:spPr>
      </p:pic>
      <p:sp>
        <p:nvSpPr>
          <p:cNvPr id="5" name="Rectangle 4"/>
          <p:cNvSpPr/>
          <p:nvPr/>
        </p:nvSpPr>
        <p:spPr>
          <a:xfrm>
            <a:off x="6217919" y="1463039"/>
            <a:ext cx="5608017" cy="4846322"/>
          </a:xfrm>
          <a:prstGeom prst="rect">
            <a:avLst/>
          </a:prstGeom>
          <a:no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r>
              <a:rPr sz="2600" b="1">
                <a:solidFill>
                  <a:srgbClr val="FFFFFF"/>
                </a:solidFill>
              </a:rPr>
              <a:t>Ba vai trò — Bảy use case</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400"/>
              </a:spcAft>
            </a:pPr>
            <a:r>
              <a:rPr sz="1800">
                <a:solidFill>
                  <a:srgbClr val="1E293B"/>
                </a:solidFill>
              </a:rPr>
              <a:t>•  Ứng viên, Nhà tuyển dụng, Quản trị viên</a:t>
            </a:r>
          </a:p>
          <a:p>
            <a:pPr>
              <a:spcAft>
                <a:spcPts val="1400"/>
              </a:spcAft>
            </a:pPr>
            <a:r>
              <a:rPr sz="1800">
                <a:solidFill>
                  <a:srgbClr val="1E293B"/>
                </a:solidFill>
              </a:rPr>
              <a:t>•  UC01 Đăng ký/đăng nhập · UC02 Đăng tin · UC03 Tìm kiếm/lọc tin</a:t>
            </a:r>
          </a:p>
          <a:p>
            <a:pPr>
              <a:spcAft>
                <a:spcPts val="1400"/>
              </a:spcAft>
            </a:pPr>
            <a:r>
              <a:rPr sz="1800">
                <a:solidFill>
                  <a:srgbClr val="1E293B"/>
                </a:solidFill>
              </a:rPr>
              <a:t>•  UC04 Ứng tuyển · UC05 Quản lý ứng viên · UC06 Duyệt/từ chối tin · UC07 Nhận thông báo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r>
              <a:rPr sz="2600" b="1">
                <a:solidFill>
                  <a:srgbClr val="FFFFFF"/>
                </a:solidFill>
              </a:rPr>
              <a:t>Demo — Ứng viên: Trang chủ</a:t>
            </a:r>
          </a:p>
        </p:txBody>
      </p:sp>
      <p:sp>
        <p:nvSpPr>
          <p:cNvPr id="3" name="TextBox 2"/>
          <p:cNvSpPr txBox="1"/>
          <p:nvPr/>
        </p:nvSpPr>
        <p:spPr>
          <a:xfrm>
            <a:off x="457200" y="1371600"/>
            <a:ext cx="5486400" cy="5029200"/>
          </a:xfrm>
          <a:prstGeom prst="rect">
            <a:avLst/>
          </a:prstGeom>
          <a:noFill/>
        </p:spPr>
        <p:txBody>
          <a:bodyPr wrap="square">
            <a:spAutoFit/>
          </a:bodyPr>
          <a:lstStyle/>
          <a:p>
            <a:pPr>
              <a:spcAft>
                <a:spcPts val="1400"/>
              </a:spcAft>
            </a:pPr>
            <a:r>
              <a:rPr sz="1800">
                <a:solidFill>
                  <a:srgbClr val="1E293B"/>
                </a:solidFill>
              </a:rPr>
              <a:t>•  Danh sách tin tuyển dụng phù hợp</a:t>
            </a:r>
          </a:p>
          <a:p>
            <a:pPr>
              <a:spcAft>
                <a:spcPts val="1400"/>
              </a:spcAft>
            </a:pPr>
            <a:r>
              <a:rPr sz="1800">
                <a:solidFill>
                  <a:srgbClr val="1E293B"/>
                </a:solidFill>
              </a:rPr>
              <a:t>•  Giao diện đáp ứng, dùng được trên điện thoại</a:t>
            </a:r>
          </a:p>
        </p:txBody>
      </p:sp>
      <p:pic>
        <p:nvPicPr>
          <p:cNvPr id="4" name="Picture 3" descr="hinh-1-1-trang-chu.png"/>
          <p:cNvPicPr>
            <a:picLocks noChangeAspect="1"/>
          </p:cNvPicPr>
          <p:nvPr/>
        </p:nvPicPr>
        <p:blipFill>
          <a:blip r:embed="rId2"/>
          <a:stretch>
            <a:fillRect/>
          </a:stretch>
        </p:blipFill>
        <p:spPr>
          <a:xfrm>
            <a:off x="6217920" y="1463040"/>
            <a:ext cx="5608015" cy="4846320"/>
          </a:xfrm>
          <a:prstGeom prst="rect">
            <a:avLst/>
          </a:prstGeom>
        </p:spPr>
      </p:pic>
      <p:sp>
        <p:nvSpPr>
          <p:cNvPr id="5" name="Rectangle 4"/>
          <p:cNvSpPr/>
          <p:nvPr/>
        </p:nvSpPr>
        <p:spPr>
          <a:xfrm>
            <a:off x="6217919" y="1463039"/>
            <a:ext cx="5608017" cy="4846322"/>
          </a:xfrm>
          <a:prstGeom prst="rect">
            <a:avLst/>
          </a:prstGeom>
          <a:no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r>
              <a:rPr sz="2600" b="1">
                <a:solidFill>
                  <a:srgbClr val="FFFFFF"/>
                </a:solidFill>
              </a:rPr>
              <a:t>Demo — Tìm kiếm và lọc</a:t>
            </a:r>
          </a:p>
        </p:txBody>
      </p:sp>
      <p:sp>
        <p:nvSpPr>
          <p:cNvPr id="3" name="TextBox 2"/>
          <p:cNvSpPr txBox="1"/>
          <p:nvPr/>
        </p:nvSpPr>
        <p:spPr>
          <a:xfrm>
            <a:off x="457200" y="1371600"/>
            <a:ext cx="5486400" cy="5029200"/>
          </a:xfrm>
          <a:prstGeom prst="rect">
            <a:avLst/>
          </a:prstGeom>
          <a:noFill/>
        </p:spPr>
        <p:txBody>
          <a:bodyPr wrap="square">
            <a:spAutoFit/>
          </a:bodyPr>
          <a:lstStyle/>
          <a:p>
            <a:pPr>
              <a:spcAft>
                <a:spcPts val="1400"/>
              </a:spcAft>
            </a:pPr>
            <a:r>
              <a:rPr sz="1800">
                <a:solidFill>
                  <a:srgbClr val="1E293B"/>
                </a:solidFill>
              </a:rPr>
              <a:t>•  Lọc theo khu vực, khung giờ, mức lương</a:t>
            </a:r>
          </a:p>
          <a:p>
            <a:pPr>
              <a:spcAft>
                <a:spcPts val="1400"/>
              </a:spcAft>
            </a:pPr>
            <a:r>
              <a:rPr sz="1800">
                <a:solidFill>
                  <a:srgbClr val="1E293B"/>
                </a:solidFill>
              </a:rPr>
              <a:t>•  Dùng Prisma + PostgreSQL, endpoint GET /jobs</a:t>
            </a:r>
          </a:p>
        </p:txBody>
      </p:sp>
      <p:pic>
        <p:nvPicPr>
          <p:cNvPr id="4" name="Picture 3" descr="hinh-1-2-tim-kiem-loc.png"/>
          <p:cNvPicPr>
            <a:picLocks noChangeAspect="1"/>
          </p:cNvPicPr>
          <p:nvPr/>
        </p:nvPicPr>
        <p:blipFill>
          <a:blip r:embed="rId2"/>
          <a:stretch>
            <a:fillRect/>
          </a:stretch>
        </p:blipFill>
        <p:spPr>
          <a:xfrm>
            <a:off x="6217920" y="1463040"/>
            <a:ext cx="5608015" cy="4846320"/>
          </a:xfrm>
          <a:prstGeom prst="rect">
            <a:avLst/>
          </a:prstGeom>
        </p:spPr>
      </p:pic>
      <p:sp>
        <p:nvSpPr>
          <p:cNvPr id="5" name="Rectangle 4"/>
          <p:cNvSpPr/>
          <p:nvPr/>
        </p:nvSpPr>
        <p:spPr>
          <a:xfrm>
            <a:off x="6217919" y="1463039"/>
            <a:ext cx="5608017" cy="4846322"/>
          </a:xfrm>
          <a:prstGeom prst="rect">
            <a:avLst/>
          </a:prstGeom>
          <a:no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r>
              <a:rPr sz="2600" b="1">
                <a:solidFill>
                  <a:srgbClr val="FFFFFF"/>
                </a:solidFill>
              </a:rPr>
              <a:t>Demo — Chi tiết tin &amp; ứng tuyển</a:t>
            </a:r>
          </a:p>
        </p:txBody>
      </p:sp>
      <p:sp>
        <p:nvSpPr>
          <p:cNvPr id="3" name="TextBox 2"/>
          <p:cNvSpPr txBox="1"/>
          <p:nvPr/>
        </p:nvSpPr>
        <p:spPr>
          <a:xfrm>
            <a:off x="457200" y="1371600"/>
            <a:ext cx="5486400" cy="5029200"/>
          </a:xfrm>
          <a:prstGeom prst="rect">
            <a:avLst/>
          </a:prstGeom>
          <a:noFill/>
        </p:spPr>
        <p:txBody>
          <a:bodyPr wrap="square">
            <a:spAutoFit/>
          </a:bodyPr>
          <a:lstStyle/>
          <a:p>
            <a:pPr>
              <a:spcAft>
                <a:spcPts val="1400"/>
              </a:spcAft>
            </a:pPr>
            <a:r>
              <a:rPr sz="1800">
                <a:solidFill>
                  <a:srgbClr val="1E293B"/>
                </a:solidFill>
              </a:rPr>
              <a:t>•  Xem chi tiết tin, bấm Ứng tuyển ngay</a:t>
            </a:r>
          </a:p>
          <a:p>
            <a:pPr>
              <a:spcAft>
                <a:spcPts val="1400"/>
              </a:spcAft>
            </a:pPr>
            <a:r>
              <a:rPr sz="1800">
                <a:solidFill>
                  <a:srgbClr val="1E293B"/>
                </a:solidFill>
              </a:rPr>
              <a:t>•  Backend kiểm tra hợp lệ bằng CreateApplicationDto</a:t>
            </a:r>
          </a:p>
        </p:txBody>
      </p:sp>
      <p:pic>
        <p:nvPicPr>
          <p:cNvPr id="4" name="Picture 3" descr="hinh-1-3-chi-tiet-tin.png"/>
          <p:cNvPicPr>
            <a:picLocks noChangeAspect="1"/>
          </p:cNvPicPr>
          <p:nvPr/>
        </p:nvPicPr>
        <p:blipFill>
          <a:blip r:embed="rId2"/>
          <a:stretch>
            <a:fillRect/>
          </a:stretch>
        </p:blipFill>
        <p:spPr>
          <a:xfrm>
            <a:off x="6217920" y="1463040"/>
            <a:ext cx="5608015" cy="4846320"/>
          </a:xfrm>
          <a:prstGeom prst="rect">
            <a:avLst/>
          </a:prstGeom>
        </p:spPr>
      </p:pic>
      <p:sp>
        <p:nvSpPr>
          <p:cNvPr id="5" name="Rectangle 4"/>
          <p:cNvSpPr/>
          <p:nvPr/>
        </p:nvSpPr>
        <p:spPr>
          <a:xfrm>
            <a:off x="6217919" y="1463039"/>
            <a:ext cx="5608017" cy="4846322"/>
          </a:xfrm>
          <a:prstGeom prst="rect">
            <a:avLst/>
          </a:prstGeom>
          <a:no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r>
              <a:rPr sz="2600" b="1">
                <a:solidFill>
                  <a:srgbClr val="FFFFFF"/>
                </a:solidFill>
              </a:rPr>
              <a:t>Demo — Nhà tuyển dụng: Đăng tin</a:t>
            </a:r>
          </a:p>
        </p:txBody>
      </p:sp>
      <p:sp>
        <p:nvSpPr>
          <p:cNvPr id="3" name="TextBox 2"/>
          <p:cNvSpPr txBox="1"/>
          <p:nvPr/>
        </p:nvSpPr>
        <p:spPr>
          <a:xfrm>
            <a:off x="457200" y="1371600"/>
            <a:ext cx="5486400" cy="5029200"/>
          </a:xfrm>
          <a:prstGeom prst="rect">
            <a:avLst/>
          </a:prstGeom>
          <a:noFill/>
        </p:spPr>
        <p:txBody>
          <a:bodyPr wrap="square">
            <a:spAutoFit/>
          </a:bodyPr>
          <a:lstStyle/>
          <a:p>
            <a:pPr>
              <a:spcAft>
                <a:spcPts val="1400"/>
              </a:spcAft>
            </a:pPr>
            <a:r>
              <a:rPr sz="1800">
                <a:solidFill>
                  <a:srgbClr val="1E293B"/>
                </a:solidFill>
              </a:rPr>
              <a:t>•  Form đăng tin mới</a:t>
            </a:r>
          </a:p>
          <a:p>
            <a:pPr>
              <a:spcAft>
                <a:spcPts val="1400"/>
              </a:spcAft>
            </a:pPr>
            <a:r>
              <a:rPr sz="1800">
                <a:solidFill>
                  <a:srgbClr val="1E293B"/>
                </a:solidFill>
              </a:rPr>
              <a:t>•  Tin mới luôn ở trạng thái PENDING, chờ quản trị viên duyệt</a:t>
            </a:r>
          </a:p>
        </p:txBody>
      </p:sp>
      <p:pic>
        <p:nvPicPr>
          <p:cNvPr id="4" name="Picture 3" descr="hinh-3-1-dang-tin.png"/>
          <p:cNvPicPr>
            <a:picLocks noChangeAspect="1"/>
          </p:cNvPicPr>
          <p:nvPr/>
        </p:nvPicPr>
        <p:blipFill>
          <a:blip r:embed="rId2"/>
          <a:stretch>
            <a:fillRect/>
          </a:stretch>
        </p:blipFill>
        <p:spPr>
          <a:xfrm>
            <a:off x="6217920" y="1463040"/>
            <a:ext cx="5608015" cy="4846320"/>
          </a:xfrm>
          <a:prstGeom prst="rect">
            <a:avLst/>
          </a:prstGeom>
        </p:spPr>
      </p:pic>
      <p:sp>
        <p:nvSpPr>
          <p:cNvPr id="5" name="Rectangle 4"/>
          <p:cNvSpPr/>
          <p:nvPr/>
        </p:nvSpPr>
        <p:spPr>
          <a:xfrm>
            <a:off x="6217919" y="1463039"/>
            <a:ext cx="5608017" cy="4846322"/>
          </a:xfrm>
          <a:prstGeom prst="rect">
            <a:avLst/>
          </a:prstGeom>
          <a:no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r>
              <a:rPr sz="2600" b="1">
                <a:solidFill>
                  <a:srgbClr val="FFFFFF"/>
                </a:solidFill>
              </a:rPr>
              <a:t>Demo — Quản lý ứng viên</a:t>
            </a:r>
          </a:p>
        </p:txBody>
      </p:sp>
      <p:sp>
        <p:nvSpPr>
          <p:cNvPr id="3" name="TextBox 2"/>
          <p:cNvSpPr txBox="1"/>
          <p:nvPr/>
        </p:nvSpPr>
        <p:spPr>
          <a:xfrm>
            <a:off x="457200" y="1371600"/>
            <a:ext cx="5486400" cy="5029200"/>
          </a:xfrm>
          <a:prstGeom prst="rect">
            <a:avLst/>
          </a:prstGeom>
          <a:noFill/>
        </p:spPr>
        <p:txBody>
          <a:bodyPr wrap="square">
            <a:spAutoFit/>
          </a:bodyPr>
          <a:lstStyle/>
          <a:p>
            <a:pPr>
              <a:spcAft>
                <a:spcPts val="1400"/>
              </a:spcAft>
            </a:pPr>
            <a:r>
              <a:rPr sz="1800">
                <a:solidFill>
                  <a:srgbClr val="1E293B"/>
                </a:solidFill>
              </a:rPr>
              <a:t>•  Danh sách ứng viên theo từng tin</a:t>
            </a:r>
          </a:p>
          <a:p>
            <a:pPr>
              <a:spcAft>
                <a:spcPts val="1400"/>
              </a:spcAft>
            </a:pPr>
            <a:r>
              <a:rPr sz="1800">
                <a:solidFill>
                  <a:srgbClr val="1E293B"/>
                </a:solidFill>
              </a:rPr>
              <a:t>•  Cập nhật trạng thái: Xem/Mời phỏng vấn/Từ chối</a:t>
            </a:r>
          </a:p>
        </p:txBody>
      </p:sp>
      <p:pic>
        <p:nvPicPr>
          <p:cNvPr id="4" name="Picture 3" descr="hinh-3-2-quan-ly-ung-vien.png"/>
          <p:cNvPicPr>
            <a:picLocks noChangeAspect="1"/>
          </p:cNvPicPr>
          <p:nvPr/>
        </p:nvPicPr>
        <p:blipFill>
          <a:blip r:embed="rId2"/>
          <a:stretch>
            <a:fillRect/>
          </a:stretch>
        </p:blipFill>
        <p:spPr>
          <a:xfrm>
            <a:off x="6217920" y="1463040"/>
            <a:ext cx="5608015" cy="4846320"/>
          </a:xfrm>
          <a:prstGeom prst="rect">
            <a:avLst/>
          </a:prstGeom>
        </p:spPr>
      </p:pic>
      <p:sp>
        <p:nvSpPr>
          <p:cNvPr id="5" name="Rectangle 4"/>
          <p:cNvSpPr/>
          <p:nvPr/>
        </p:nvSpPr>
        <p:spPr>
          <a:xfrm>
            <a:off x="6217919" y="1463039"/>
            <a:ext cx="5608017" cy="4846322"/>
          </a:xfrm>
          <a:prstGeom prst="rect">
            <a:avLst/>
          </a:prstGeom>
          <a:no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r>
              <a:rPr sz="2600" b="1">
                <a:solidFill>
                  <a:srgbClr val="FFFFFF"/>
                </a:solidFill>
              </a:rPr>
              <a:t>Demo — Quản trị viên</a:t>
            </a:r>
          </a:p>
        </p:txBody>
      </p:sp>
      <p:sp>
        <p:nvSpPr>
          <p:cNvPr id="3" name="TextBox 2"/>
          <p:cNvSpPr txBox="1"/>
          <p:nvPr/>
        </p:nvSpPr>
        <p:spPr>
          <a:xfrm>
            <a:off x="457200" y="1371600"/>
            <a:ext cx="5486400" cy="5029200"/>
          </a:xfrm>
          <a:prstGeom prst="rect">
            <a:avLst/>
          </a:prstGeom>
          <a:noFill/>
        </p:spPr>
        <p:txBody>
          <a:bodyPr wrap="square">
            <a:spAutoFit/>
          </a:bodyPr>
          <a:lstStyle/>
          <a:p>
            <a:pPr>
              <a:spcAft>
                <a:spcPts val="1400"/>
              </a:spcAft>
            </a:pPr>
            <a:r>
              <a:rPr sz="1800">
                <a:solidFill>
                  <a:srgbClr val="1E293B"/>
                </a:solidFill>
              </a:rPr>
              <a:t>•  Tổng quan hệ thống, tin chờ duyệt, danh sách người dùng</a:t>
            </a:r>
          </a:p>
        </p:txBody>
      </p:sp>
      <p:pic>
        <p:nvPicPr>
          <p:cNvPr id="4" name="Picture 3" descr="hinh-3-3-duyet-tin-admin.png"/>
          <p:cNvPicPr>
            <a:picLocks noChangeAspect="1"/>
          </p:cNvPicPr>
          <p:nvPr/>
        </p:nvPicPr>
        <p:blipFill>
          <a:blip r:embed="rId2"/>
          <a:stretch>
            <a:fillRect/>
          </a:stretch>
        </p:blipFill>
        <p:spPr>
          <a:xfrm>
            <a:off x="6217920" y="1463040"/>
            <a:ext cx="5608015" cy="4846320"/>
          </a:xfrm>
          <a:prstGeom prst="rect">
            <a:avLst/>
          </a:prstGeom>
        </p:spPr>
      </p:pic>
      <p:sp>
        <p:nvSpPr>
          <p:cNvPr id="5" name="Rectangle 4"/>
          <p:cNvSpPr/>
          <p:nvPr/>
        </p:nvSpPr>
        <p:spPr>
          <a:xfrm>
            <a:off x="6217919" y="1463039"/>
            <a:ext cx="5608017" cy="4846322"/>
          </a:xfrm>
          <a:prstGeom prst="rect">
            <a:avLst/>
          </a:prstGeom>
          <a:no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r>
              <a:rPr sz="2600" b="1">
                <a:solidFill>
                  <a:srgbClr val="FFFFFF"/>
                </a:solidFill>
              </a:rPr>
              <a:t>Demo — Thông báo</a:t>
            </a:r>
          </a:p>
        </p:txBody>
      </p:sp>
      <p:sp>
        <p:nvSpPr>
          <p:cNvPr id="3" name="TextBox 2"/>
          <p:cNvSpPr txBox="1"/>
          <p:nvPr/>
        </p:nvSpPr>
        <p:spPr>
          <a:xfrm>
            <a:off x="457200" y="1371600"/>
            <a:ext cx="5486400" cy="5029200"/>
          </a:xfrm>
          <a:prstGeom prst="rect">
            <a:avLst/>
          </a:prstGeom>
          <a:noFill/>
        </p:spPr>
        <p:txBody>
          <a:bodyPr wrap="square">
            <a:spAutoFit/>
          </a:bodyPr>
          <a:lstStyle/>
          <a:p>
            <a:pPr>
              <a:spcAft>
                <a:spcPts val="1400"/>
              </a:spcAft>
            </a:pPr>
            <a:r>
              <a:rPr sz="1800">
                <a:solidFill>
                  <a:srgbClr val="1E293B"/>
                </a:solidFill>
              </a:rPr>
              <a:t>•  Chuông thông báo, cập nhật mỗi 20 giây bằng polling</a:t>
            </a:r>
          </a:p>
        </p:txBody>
      </p:sp>
      <p:pic>
        <p:nvPicPr>
          <p:cNvPr id="4" name="Picture 3" descr="hinh-3-4-thong-bao.png"/>
          <p:cNvPicPr>
            <a:picLocks noChangeAspect="1"/>
          </p:cNvPicPr>
          <p:nvPr/>
        </p:nvPicPr>
        <p:blipFill>
          <a:blip r:embed="rId2"/>
          <a:stretch>
            <a:fillRect/>
          </a:stretch>
        </p:blipFill>
        <p:spPr>
          <a:xfrm>
            <a:off x="6217920" y="1463040"/>
            <a:ext cx="5608015" cy="4846320"/>
          </a:xfrm>
          <a:prstGeom prst="rect">
            <a:avLst/>
          </a:prstGeom>
        </p:spPr>
      </p:pic>
      <p:sp>
        <p:nvSpPr>
          <p:cNvPr id="5" name="Rectangle 4"/>
          <p:cNvSpPr/>
          <p:nvPr/>
        </p:nvSpPr>
        <p:spPr>
          <a:xfrm>
            <a:off x="6217919" y="1463039"/>
            <a:ext cx="5608017" cy="4846322"/>
          </a:xfrm>
          <a:prstGeom prst="rect">
            <a:avLst/>
          </a:prstGeom>
          <a:no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r>
              <a:rPr sz="2600" b="1">
                <a:solidFill>
                  <a:srgbClr val="FFFFFF"/>
                </a:solidFill>
              </a:rPr>
              <a:t>Demo — Hồ sơ cá nhân</a:t>
            </a:r>
          </a:p>
        </p:txBody>
      </p:sp>
      <p:sp>
        <p:nvSpPr>
          <p:cNvPr id="3" name="TextBox 2"/>
          <p:cNvSpPr txBox="1"/>
          <p:nvPr/>
        </p:nvSpPr>
        <p:spPr>
          <a:xfrm>
            <a:off x="457200" y="1371600"/>
            <a:ext cx="5486400" cy="5029200"/>
          </a:xfrm>
          <a:prstGeom prst="rect">
            <a:avLst/>
          </a:prstGeom>
          <a:noFill/>
        </p:spPr>
        <p:txBody>
          <a:bodyPr wrap="square">
            <a:spAutoFit/>
          </a:bodyPr>
          <a:lstStyle/>
          <a:p>
            <a:pPr>
              <a:spcAft>
                <a:spcPts val="1400"/>
              </a:spcAft>
            </a:pPr>
            <a:r>
              <a:rPr sz="1800">
                <a:solidFill>
                  <a:srgbClr val="1E293B"/>
                </a:solidFill>
              </a:rPr>
              <a:t>•  Ứng viên xem lại thông tin tài khoản và lịch sử ứng tuyển</a:t>
            </a:r>
          </a:p>
        </p:txBody>
      </p:sp>
      <p:pic>
        <p:nvPicPr>
          <p:cNvPr id="4" name="Picture 3" descr="hinh-3-5-ho-so-ung-vien.png"/>
          <p:cNvPicPr>
            <a:picLocks noChangeAspect="1"/>
          </p:cNvPicPr>
          <p:nvPr/>
        </p:nvPicPr>
        <p:blipFill>
          <a:blip r:embed="rId2"/>
          <a:stretch>
            <a:fillRect/>
          </a:stretch>
        </p:blipFill>
        <p:spPr>
          <a:xfrm>
            <a:off x="6217920" y="1463040"/>
            <a:ext cx="5608015" cy="4846320"/>
          </a:xfrm>
          <a:prstGeom prst="rect">
            <a:avLst/>
          </a:prstGeom>
        </p:spPr>
      </p:pic>
      <p:sp>
        <p:nvSpPr>
          <p:cNvPr id="5" name="Rectangle 4"/>
          <p:cNvSpPr/>
          <p:nvPr/>
        </p:nvSpPr>
        <p:spPr>
          <a:xfrm>
            <a:off x="6217919" y="1463039"/>
            <a:ext cx="5608017" cy="4846322"/>
          </a:xfrm>
          <a:prstGeom prst="rect">
            <a:avLst/>
          </a:prstGeom>
          <a:no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r>
              <a:rPr sz="2600" b="1">
                <a:solidFill>
                  <a:srgbClr val="FFFFFF"/>
                </a:solidFill>
              </a:rPr>
              <a:t>Bảo mật: đối chiếu OWASP Top 10</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400"/>
              </a:spcAft>
            </a:pPr>
            <a:r>
              <a:rPr sz="1800">
                <a:solidFill>
                  <a:srgbClr val="1E293B"/>
                </a:solidFill>
              </a:rPr>
              <a:t>•  Đã có: chống truy cập chéo vai trò, mật khẩu băm bcrypt, chống SQL injection qua Prisma</a:t>
            </a:r>
          </a:p>
          <a:p>
            <a:pPr>
              <a:spcAft>
                <a:spcPts val="1400"/>
              </a:spcAft>
            </a:pPr>
            <a:r>
              <a:rPr sz="1800">
                <a:solidFill>
                  <a:srgbClr val="1E293B"/>
                </a:solidFill>
              </a:rPr>
              <a:t>•  Đã có: kiểm tra dữ liệu đầu vào toàn cục (ValidationPipe)</a:t>
            </a:r>
          </a:p>
          <a:p>
            <a:pPr>
              <a:spcAft>
                <a:spcPts val="1400"/>
              </a:spcAft>
            </a:pPr>
            <a:r>
              <a:rPr sz="1800">
                <a:solidFill>
                  <a:srgbClr val="1E293B"/>
                </a:solidFill>
              </a:rPr>
              <a:t>•  Một phần — hạn chế biết trước: CORS chưa giới hạn origin, chưa có rate limiting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r>
              <a:rPr sz="2600" b="1">
                <a:solidFill>
                  <a:srgbClr val="FFFFFF"/>
                </a:solidFill>
              </a:rPr>
              <a:t>Kết quả kiểm thử</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400"/>
              </a:spcAft>
            </a:pPr>
            <a:r>
              <a:rPr sz="1800">
                <a:solidFill>
                  <a:srgbClr val="1E293B"/>
                </a:solidFill>
              </a:rPr>
              <a:t>•  106/106 kịch bản kiểm thử tự động đạt — 100%</a:t>
            </a:r>
          </a:p>
          <a:p>
            <a:pPr>
              <a:spcAft>
                <a:spcPts val="1400"/>
              </a:spcAft>
            </a:pPr>
            <a:r>
              <a:rPr sz="1800">
                <a:solidFill>
                  <a:srgbClr val="1E293B"/>
                </a:solidFill>
              </a:rPr>
              <a:t>•  21 kiểm thử đơn vị + 77 kiểm thử tích hợp (backend) + 8 kiểm thử đơn vị (frontend)</a:t>
            </a:r>
          </a:p>
          <a:p>
            <a:pPr>
              <a:spcAft>
                <a:spcPts val="1400"/>
              </a:spcAft>
            </a:pPr>
            <a:r>
              <a:rPr sz="1800">
                <a:solidFill>
                  <a:srgbClr val="1E293B"/>
                </a:solidFill>
              </a:rPr>
              <a:t>•  Bộ kiểm thử RBAC riêng xác nhận không có truy cập chéo vai trò</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r>
              <a:rPr sz="2600" b="1">
                <a:solidFill>
                  <a:srgbClr val="FFFFFF"/>
                </a:solidFill>
              </a:rPr>
              <a:t>Đối chiếu chỉ tiêu định lượng</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400"/>
              </a:spcAft>
            </a:pPr>
            <a:r>
              <a:rPr sz="1800">
                <a:solidFill>
                  <a:srgbClr val="1E293B"/>
                </a:solidFill>
              </a:rPr>
              <a:t>•  7/7 use case hoàn thành (chỉ tiêu tối thiểu 6/7) — vượt</a:t>
            </a:r>
          </a:p>
          <a:p>
            <a:pPr>
              <a:spcAft>
                <a:spcPts val="1400"/>
              </a:spcAft>
            </a:pPr>
            <a:r>
              <a:rPr sz="1800">
                <a:solidFill>
                  <a:srgbClr val="1E293B"/>
                </a:solidFill>
              </a:rPr>
              <a:t>•  106/106 kịch bản kiểm thử đạt (chỉ tiêu từ 90%) — vượt</a:t>
            </a:r>
          </a:p>
          <a:p>
            <a:pPr>
              <a:spcAft>
                <a:spcPts val="1400"/>
              </a:spcAft>
            </a:pPr>
            <a:r>
              <a:rPr sz="1800">
                <a:solidFill>
                  <a:srgbClr val="1E293B"/>
                </a:solidFill>
              </a:rPr>
              <a:t>•  Không tràn ngang ở 3 độ rộng màn hình đã kiểm (360/768/1280px)</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r>
              <a:rPr sz="2600" b="1">
                <a:solidFill>
                  <a:srgbClr val="FFFFFF"/>
                </a:solidFill>
              </a:rPr>
              <a:t>Hạn chế và hướng phát triển</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400"/>
              </a:spcAft>
            </a:pPr>
            <a:r>
              <a:rPr sz="1800">
                <a:solidFill>
                  <a:srgbClr val="1E293B"/>
                </a:solidFill>
              </a:rPr>
              <a:t>•  Hạn chế: thông báo trễ tối đa ~20s, dữ liệu demo còn nhỏ, CORS/rate limiting chưa siết</a:t>
            </a:r>
          </a:p>
          <a:p>
            <a:pPr>
              <a:spcAft>
                <a:spcPts val="1400"/>
              </a:spcAft>
            </a:pPr>
            <a:r>
              <a:rPr sz="1800">
                <a:solidFill>
                  <a:srgbClr val="1E293B"/>
                </a:solidFill>
              </a:rPr>
              <a:t>•  Hướng phát triển: ứng dụng di động, gợi ý việc làm, đánh giá hai chiều, WebSocket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r>
              <a:rPr sz="2600" b="1">
                <a:solidFill>
                  <a:srgbClr val="FFFFFF"/>
                </a:solidFill>
              </a:rPr>
              <a:t>Liên kết</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400"/>
              </a:spcAft>
            </a:pPr>
            <a:r>
              <a:rPr sz="1800">
                <a:solidFill>
                  <a:srgbClr val="1E293B"/>
                </a:solidFill>
              </a:rPr>
              <a:t>•  Video thuyết trình: «DÁN LIÊN KẾT GOOGLE DRIVE VÀO ĐÂY»</a:t>
            </a:r>
          </a:p>
          <a:p>
            <a:pPr>
              <a:spcAft>
                <a:spcPts val="1400"/>
              </a:spcAft>
            </a:pPr>
            <a:r>
              <a:rPr sz="1800">
                <a:solidFill>
                  <a:srgbClr val="1E293B"/>
                </a:solidFill>
              </a:rPr>
              <a:t>•  Mã nguồn và toàn bộ tài liệu: https://github.com/nhquan403/Recruit-Employee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r>
              <a:rPr sz="2600" b="1">
                <a:solidFill>
                  <a:srgbClr val="FFFFFF"/>
                </a:solidFill>
              </a:rPr>
              <a:t>Cảm ơn</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400"/>
              </a:spcAft>
            </a:pPr>
            <a:r>
              <a:rPr sz="1800">
                <a:solidFill>
                  <a:srgbClr val="1E293B"/>
                </a:solidFill>
              </a:rPr>
              <a:t>•  Em xin cảm ơn thầy Trầm Hoàng Nam và quý thầy cô đã lắng nghe</a:t>
            </a:r>
          </a:p>
          <a:p>
            <a:pPr>
              <a:spcAft>
                <a:spcPts val="1400"/>
              </a:spcAft>
            </a:pPr>
            <a:r>
              <a:rPr sz="1800">
                <a:solidFill>
                  <a:srgbClr val="1E293B"/>
                </a:solidFill>
              </a:rPr>
              <a:t>•  Em xin được lắng nghe góp ý và nhận xét từ hội đồng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